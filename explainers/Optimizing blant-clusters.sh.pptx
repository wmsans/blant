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6.xml" ContentType="application/vnd.openxmlformats-officedocument.presentationml.slide+xml"/>
  <Override PartName="/ppt/theme/theme3.xml" ContentType="application/vnd.openxmlformats-officedocument.theme+xml"/>
  <Override PartName="/ppt/presProps.xml" ContentType="application/vnd.openxmlformats-officedocument.presentationml.presProps+xml"/>
  <Override PartName="/ppt/slideLayouts/slideLayout2.xml" ContentType="application/vnd.openxmlformats-officedocument.presentationml.slideLayout+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s/slide3.xml" ContentType="application/vnd.openxmlformats-officedocument.presentationml.slide+xml"/>
  <Override PartName="/ppt/viewProps.xml" ContentType="application/vnd.openxmlformats-officedocument.presentationml.viewProps+xml"/>
  <Override PartName="/ppt/handoutMasters/handoutMaster1.xml" ContentType="application/vnd.openxmlformats-officedocument.presentationml.handoutMaster+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Layouts/slideLayout1.xml" ContentType="application/vnd.openxmlformats-officedocument.presentationml.slideLayout+xml"/>
  <Override PartName="/ppt/slides/slide5.xml" ContentType="application/vnd.openxmlformats-officedocument.presentationml.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3"/>
  </p:notesMasterIdLst>
  <p:handoutMasterIdLst>
    <p:handoutMasterId r:id="rId14"/>
  </p:handoutMasterIdLst>
  <p:sldIdLst>
    <p:sldId id="256" r:id="rId5"/>
    <p:sldId id="257" r:id="rId6"/>
    <p:sldId id="258" r:id="rId7"/>
    <p:sldId id="259" r:id="rId8"/>
    <p:sldId id="260" r:id="rId9"/>
    <p:sldId id="261" r:id="rId10"/>
    <p:sldId id="262" r:id="rId11"/>
    <p:sldId id="263" r:id="rId12"/>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theme" Target="theme/theme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91699017" name="Header Placeholder 1"/>
          <p:cNvSpPr>
            <a:spLocks noGrp="1"/>
          </p:cNvSpPr>
          <p:nvPr>
            <p:ph type="hdr" sz="quarter"/>
          </p:nvPr>
        </p:nvSpPr>
        <p:spPr bwMode="auto">
          <a:xfrm>
            <a:off x="0" y="0"/>
            <a:ext cx="2971800" cy="611716"/>
          </a:xfrm>
          <a:prstGeom prst="rect">
            <a:avLst/>
          </a:prstGeom>
        </p:spPr>
        <p:txBody>
          <a:bodyPr vert="horz" lIns="91440" tIns="45720" rIns="91440" bIns="45720" anchor="t"/>
          <a:lstStyle>
            <a:lvl1pPr algn="l">
              <a:defRPr sz="1200"/>
            </a:lvl1pPr>
          </a:lstStyle>
          <a:p>
            <a:pPr>
              <a:defRPr/>
            </a:pPr>
            <a:endParaRPr/>
          </a:p>
        </p:txBody>
      </p:sp>
      <p:sp>
        <p:nvSpPr>
          <p:cNvPr id="1226252696" name="Date Placeholder 2"/>
          <p:cNvSpPr>
            <a:spLocks noGrp="1"/>
          </p:cNvSpPr>
          <p:nvPr>
            <p:ph type="dt" idx="3"/>
          </p:nvPr>
        </p:nvSpPr>
        <p:spPr bwMode="auto">
          <a:xfrm>
            <a:off x="3886200" y="0"/>
            <a:ext cx="2971800" cy="611716"/>
          </a:xfrm>
          <a:prstGeom prst="rect">
            <a:avLst/>
          </a:prstGeom>
        </p:spPr>
        <p:txBody>
          <a:bodyPr vert="horz" lIns="91440" tIns="45720" rIns="91440" bIns="45720" anchor="t"/>
          <a:lstStyle>
            <a:lvl1pPr algn="r">
              <a:defRPr sz="1200"/>
            </a:lvl1pPr>
          </a:lstStyle>
          <a:p>
            <a:pPr>
              <a:defRPr/>
            </a:pPr>
            <a:fld id="{405B9070-6236-171B-CAB0-8B20DEA83CC7}" type="datetimeFigureOut">
              <a:rPr lang="en-US"/>
              <a:t/>
            </a:fld>
            <a:endParaRPr/>
          </a:p>
        </p:txBody>
      </p:sp>
      <p:sp>
        <p:nvSpPr>
          <p:cNvPr id="1958431125" name="Footer Placeholder 3"/>
          <p:cNvSpPr>
            <a:spLocks noGrp="1"/>
          </p:cNvSpPr>
          <p:nvPr>
            <p:ph type="ftr" sz="quarter" idx="2"/>
          </p:nvPr>
        </p:nvSpPr>
        <p:spPr bwMode="auto">
          <a:xfrm>
            <a:off x="0" y="11580284"/>
            <a:ext cx="2971800" cy="611716"/>
          </a:xfrm>
          <a:prstGeom prst="rect">
            <a:avLst/>
          </a:prstGeom>
        </p:spPr>
        <p:txBody>
          <a:bodyPr vert="horz" lIns="91440" tIns="45720" rIns="91440" bIns="45720" anchor="b"/>
          <a:lstStyle>
            <a:lvl1pPr algn="l">
              <a:defRPr sz="1200"/>
            </a:lvl1pPr>
          </a:lstStyle>
          <a:p>
            <a:pPr>
              <a:defRPr/>
            </a:pPr>
            <a:endParaRPr/>
          </a:p>
        </p:txBody>
      </p:sp>
      <p:sp>
        <p:nvSpPr>
          <p:cNvPr id="1623621730" name="Slide Number Placeholder 4"/>
          <p:cNvSpPr>
            <a:spLocks noGrp="1"/>
          </p:cNvSpPr>
          <p:nvPr>
            <p:ph type="sldNum" sz="quarter" idx="3"/>
          </p:nvPr>
        </p:nvSpPr>
        <p:spPr bwMode="auto">
          <a:xfrm>
            <a:off x="3886200" y="11580284"/>
            <a:ext cx="2971800" cy="611716"/>
          </a:xfrm>
          <a:prstGeom prst="rect">
            <a:avLst/>
          </a:prstGeom>
        </p:spPr>
        <p:txBody>
          <a:bodyPr vert="horz" lIns="91440" tIns="45720" rIns="91440" bIns="45720" anchor="b"/>
          <a:lstStyle>
            <a:lvl1pPr algn="r">
              <a:defRPr sz="1200"/>
            </a:lvl1pPr>
          </a:lstStyle>
          <a:p>
            <a:pPr>
              <a:defRPr/>
            </a:pPr>
            <a:fld id="{3F3A8C97-41E6-AAB5-EE97-7B5EEF6E3302}" type="slidenum">
              <a:rPr/>
              <a:t/>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659409741"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625534707"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899138482"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217094980"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7129679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17725667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48688074" name="Slide Image Placeholder 1"/>
          <p:cNvSpPr>
            <a:spLocks noChangeAspect="1" noGrp="1" noRot="1"/>
          </p:cNvSpPr>
          <p:nvPr>
            <p:ph type="sldImg"/>
          </p:nvPr>
        </p:nvSpPr>
        <p:spPr bwMode="auto"/>
      </p:sp>
      <p:sp>
        <p:nvSpPr>
          <p:cNvPr id="708456086" name="Notes Placeholder 2"/>
          <p:cNvSpPr>
            <a:spLocks noGrp="1"/>
          </p:cNvSpPr>
          <p:nvPr>
            <p:ph type="body" idx="1"/>
          </p:nvPr>
        </p:nvSpPr>
        <p:spPr bwMode="auto"/>
        <p:txBody>
          <a:bodyPr/>
          <a:lstStyle/>
          <a:p>
            <a:pPr>
              <a:defRPr/>
            </a:pPr>
            <a:r>
              <a:rPr lang="en-US"/>
              <a:t>Everything today is about one script: blant-clusters.sh, the stage after BLANT sampling that turns graphlet counts into communities. The punchline up front: same clusters byte for byte, much faster, and the gap grows with network size.</a:t>
            </a:r>
            <a:endParaRPr lang="en-US"/>
          </a:p>
        </p:txBody>
      </p:sp>
      <p:sp>
        <p:nvSpPr>
          <p:cNvPr id="1642072882"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18375834" name="Slide Image Placeholder 1"/>
          <p:cNvSpPr>
            <a:spLocks noChangeAspect="1" noGrp="1" noRot="1"/>
          </p:cNvSpPr>
          <p:nvPr>
            <p:ph type="sldImg"/>
          </p:nvPr>
        </p:nvSpPr>
        <p:spPr bwMode="auto"/>
      </p:sp>
      <p:sp>
        <p:nvSpPr>
          <p:cNvPr id="484940988" name="Notes Placeholder 2"/>
          <p:cNvSpPr>
            <a:spLocks noGrp="1"/>
          </p:cNvSpPr>
          <p:nvPr>
            <p:ph type="body" idx="1"/>
          </p:nvPr>
        </p:nvSpPr>
        <p:spPr bwMode="auto"/>
        <p:txBody>
          <a:bodyPr/>
          <a:lstStyle/>
          <a:p>
            <a:pPr>
              <a:defRPr/>
            </a:pPr>
            <a:r>
              <a:rPr lang="en-US"/>
              <a:t>Quick refresher, since everyone here knows BLANT. Sampling runs once per k; aggregate, sort, grow and dedupe run once per k and ED pair, nine times for a typical run; merge runs once at the end. Grow takes most CPU; dedupe and merge compare clusters pairwise, which is what blows up on large networks.</a:t>
            </a:r>
            <a:endParaRPr lang="en-US"/>
          </a:p>
        </p:txBody>
      </p:sp>
      <p:sp>
        <p:nvSpPr>
          <p:cNvPr id="877310225"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605150733" name="Slide Image Placeholder 1"/>
          <p:cNvSpPr>
            <a:spLocks noChangeAspect="1" noGrp="1" noRot="1"/>
          </p:cNvSpPr>
          <p:nvPr>
            <p:ph type="sldImg"/>
          </p:nvPr>
        </p:nvSpPr>
        <p:spPr bwMode="auto"/>
      </p:sp>
      <p:sp>
        <p:nvSpPr>
          <p:cNvPr id="1495511609" name="Notes Placeholder 2"/>
          <p:cNvSpPr>
            <a:spLocks noGrp="1"/>
          </p:cNvSpPr>
          <p:nvPr>
            <p:ph type="body" idx="1"/>
          </p:nvPr>
        </p:nvSpPr>
        <p:spPr bwMode="auto"/>
        <p:txBody>
          <a:bodyPr/>
          <a:lstStyle/>
          <a:p>
            <a:pPr>
              <a:defRPr/>
            </a:pPr>
            <a:r>
              <a:rPr lang="en-US"/>
              <a:t>Measured, not estimated: the timestamps of master's per-ED output files. Low density is where clusters multiply, and every cluster gets compared with every earlier one twice: in dedupe and in the final merge. That is the quadratic part the branch removes.</a:t>
            </a:r>
            <a:endParaRPr lang="en-US"/>
          </a:p>
        </p:txBody>
      </p:sp>
      <p:sp>
        <p:nvSpPr>
          <p:cNvPr id="379436360"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250504545" name="Slide Image Placeholder 1"/>
          <p:cNvSpPr>
            <a:spLocks noChangeAspect="1" noGrp="1" noRot="1"/>
          </p:cNvSpPr>
          <p:nvPr>
            <p:ph type="sldImg"/>
          </p:nvPr>
        </p:nvSpPr>
        <p:spPr bwMode="auto"/>
      </p:sp>
      <p:sp>
        <p:nvSpPr>
          <p:cNvPr id="18408191" name="Notes Placeholder 2"/>
          <p:cNvSpPr>
            <a:spLocks noGrp="1"/>
          </p:cNvSpPr>
          <p:nvPr>
            <p:ph type="body" idx="1"/>
          </p:nvPr>
        </p:nvSpPr>
        <p:spPr bwMode="auto"/>
        <p:txBody>
          <a:bodyPr/>
          <a:lstStyle/>
          <a:p>
            <a:pPr>
              <a:defRPr/>
            </a:pPr>
            <a:r>
              <a:rPr lang="en-US"/>
              <a:t>Master reads and aggregates each BLANT file once per edge density. The branch reads it once and writes each line to the counts file of every density it qualifies for. Concurrency is deliberately unchanged from master: the k's run in parallel, the densities one after another. Running every pair at once crashed the machine; more on that later.</a:t>
            </a:r>
            <a:endParaRPr lang="en-US"/>
          </a:p>
        </p:txBody>
      </p:sp>
      <p:sp>
        <p:nvSpPr>
          <p:cNvPr id="708948541"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21696296" name="Slide Image Placeholder 1"/>
          <p:cNvSpPr>
            <a:spLocks noChangeAspect="1" noGrp="1" noRot="1"/>
          </p:cNvSpPr>
          <p:nvPr>
            <p:ph type="sldImg"/>
          </p:nvPr>
        </p:nvSpPr>
        <p:spPr bwMode="auto"/>
      </p:sp>
      <p:sp>
        <p:nvSpPr>
          <p:cNvPr id="90126000" name="Notes Placeholder 2"/>
          <p:cNvSpPr>
            <a:spLocks noGrp="1"/>
          </p:cNvSpPr>
          <p:nvPr>
            <p:ph type="body" idx="1"/>
          </p:nvPr>
        </p:nvSpPr>
        <p:spPr bwMode="auto"/>
        <p:txBody>
          <a:bodyPr/>
          <a:lstStyle/>
          <a:p>
            <a:pPr>
              <a:defRPr/>
            </a:pPr>
            <a:r>
              <a:rPr lang="en-US"/>
              <a:t>Master pays two full scans of the cluster plus an insert and a delete for every rejected candidate, and most candidates are rejected. The branch computes edge count and weight in one pass over whichever list is shorter, tests density as if u were added, and only touches S on success.</a:t>
            </a:r>
            <a:endParaRPr lang="en-US"/>
          </a:p>
        </p:txBody>
      </p:sp>
      <p:sp>
        <p:nvSpPr>
          <p:cNvPr id="947608892"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14892" name="Slide Image Placeholder 1"/>
          <p:cNvSpPr>
            <a:spLocks noChangeAspect="1" noGrp="1" noRot="1"/>
          </p:cNvSpPr>
          <p:nvPr>
            <p:ph type="sldImg"/>
          </p:nvPr>
        </p:nvSpPr>
        <p:spPr bwMode="auto"/>
      </p:sp>
      <p:sp>
        <p:nvSpPr>
          <p:cNvPr id="1397592341" name="Notes Placeholder 2"/>
          <p:cNvSpPr>
            <a:spLocks noGrp="1"/>
          </p:cNvSpPr>
          <p:nvPr>
            <p:ph type="body" idx="1"/>
          </p:nvPr>
        </p:nvSpPr>
        <p:spPr bwMode="auto"/>
        <p:txBody>
          <a:bodyPr/>
          <a:lstStyle/>
          <a:p>
            <a:pPr>
              <a:defRPr/>
            </a:pPr>
            <a:r>
              <a:rPr lang="en-US"/>
              <a:t>Only clusters that share at least one node with the new cluster can overlap it by more than half, so the index finds every cluster that could reject it, and nothing else. Exact duplicates are a hash lookup on the sorted member list. Both are textbook fixes, and they only matter at scale: com-Amazon sent 41 thousand clusters into the final merge.</a:t>
            </a:r>
            <a:endParaRPr lang="en-US"/>
          </a:p>
        </p:txBody>
      </p:sp>
      <p:sp>
        <p:nvSpPr>
          <p:cNvPr id="1425551723"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111743617" name="Slide Image Placeholder 1"/>
          <p:cNvSpPr>
            <a:spLocks noChangeAspect="1" noGrp="1" noRot="1"/>
          </p:cNvSpPr>
          <p:nvPr>
            <p:ph type="sldImg"/>
          </p:nvPr>
        </p:nvSpPr>
        <p:spPr bwMode="auto"/>
      </p:sp>
      <p:sp>
        <p:nvSpPr>
          <p:cNvPr id="1212597642" name="Notes Placeholder 2"/>
          <p:cNvSpPr>
            <a:spLocks noGrp="1"/>
          </p:cNvSpPr>
          <p:nvPr>
            <p:ph type="body" idx="1"/>
          </p:nvPr>
        </p:nvSpPr>
        <p:spPr bwMode="auto"/>
        <p:txBody>
          <a:bodyPr/>
          <a:lstStyle/>
          <a:p>
            <a:pPr>
              <a:defRPr/>
            </a:pPr>
            <a:r>
              <a:rPr lang="en-US"/>
              <a:t>The single most useful picture. On our PPI networks we get 1.4 to 2.1x. The big wins line up with cluster count: com-DBLP and com-Amazon each produce about 14 thousand clusters and get 33 to 43x, because master's dedupe and merge are quadratic in the cluster count. com-Youtube is the biggest graph, but it produces only 1,500 clusters, so it gets 1.7x, which comes from cluster growth alone.</a:t>
            </a:r>
            <a:endParaRPr lang="en-US"/>
          </a:p>
        </p:txBody>
      </p:sp>
      <p:sp>
        <p:nvSpPr>
          <p:cNvPr id="1024686625"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143923225" name="Slide Image Placeholder 1"/>
          <p:cNvSpPr>
            <a:spLocks noChangeAspect="1" noGrp="1" noRot="1"/>
          </p:cNvSpPr>
          <p:nvPr>
            <p:ph type="sldImg"/>
          </p:nvPr>
        </p:nvSpPr>
        <p:spPr bwMode="auto"/>
      </p:sp>
      <p:sp>
        <p:nvSpPr>
          <p:cNvPr id="306570453" name="Notes Placeholder 2"/>
          <p:cNvSpPr>
            <a:spLocks noGrp="1"/>
          </p:cNvSpPr>
          <p:nvPr>
            <p:ph type="body" idx="1"/>
          </p:nvPr>
        </p:nvSpPr>
        <p:spPr bwMode="auto"/>
        <p:txBody>
          <a:bodyPr/>
          <a:lstStyle/>
          <a:p>
            <a:pPr>
              <a:defRPr/>
            </a:pPr>
            <a:r>
              <a:rPr lang="en-US"/>
              <a:t>Each pair is drawn to its own scale: the orange bar is master's time, the blue bar the branch's, so the blue length is one over the speedup. The three graphs with thousands of clusters drop from half an hour or more to about a minute. com-Youtube is the largest graph but produces few clusters, so there is little to merge and the gain is 1.7x. Same BLANT samples, one seed, byte-identical output.</a:t>
            </a:r>
            <a:endParaRPr lang="en-US"/>
          </a:p>
        </p:txBody>
      </p:sp>
      <p:sp>
        <p:nvSpPr>
          <p:cNvPr id="567953392"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body">
    <p:bg>
      <p:bgPr shadeToTitle="0">
        <a:solidFill>
          <a:srgbClr val="F6F5F1"/>
        </a:solidFill>
      </p:bgPr>
    </p:bg>
    <p:spTree>
      <p:nvGrpSpPr>
        <p:cNvPr id="1" name=""/>
        <p:cNvGrpSpPr/>
        <p:nvPr/>
      </p:nvGrpSpPr>
      <p:grpSpPr bwMode="auto">
        <a:xfrm>
          <a:off x="0" y="0"/>
          <a:ext cx="0" cy="0"/>
          <a:chOff x="0" y="0"/>
          <a:chExt cx="0" cy="0"/>
        </a:xfrm>
      </p:grpSpPr>
      <p:sp>
        <p:nvSpPr>
          <p:cNvPr id="2030038899" name="Title Placeholder 1"/>
          <p:cNvSpPr/>
          <p:nvPr>
            <p:ph type="title"/>
          </p:nvPr>
        </p:nvSpPr>
        <p:spPr bwMode="auto">
          <a:xfrm>
            <a:off x="812800" y="812800"/>
            <a:ext cx="10566400" cy="467320"/>
          </a:xfrm>
          <a:prstGeom prst="rect">
            <a:avLst/>
          </a:prstGeom>
          <a:noFill/>
          <a:ln/>
        </p:spPr>
        <p:txBody>
          <a:bodyPr wrap="square" lIns="0" tIns="0" rIns="0" bIns="0" rtlCol="0" anchor="t"/>
          <a:lstStyle>
            <a:lvl1pPr marL="0" indent="0" algn="l">
              <a:lnSpc>
                <a:spcPct val="115000"/>
              </a:lnSpc>
              <a:buNone/>
              <a:defRPr lang="en-US" sz="3200">
                <a:solidFill>
                  <a:srgbClr val="17202B"/>
                </a:solidFill>
                <a:latin typeface="Arial"/>
                <a:ea typeface="Arial"/>
                <a:cs typeface="Arial"/>
              </a:defRPr>
            </a:lvl1pPr>
          </a:lstStyle>
          <a:p>
            <a:pPr marL="0" indent="0" algn="l">
              <a:lnSpc>
                <a:spcPct val="115000"/>
              </a:lnSpc>
              <a:buNone/>
              <a:defRPr/>
            </a:pPr>
            <a:endParaRPr lang="en-US" sz="3200"/>
          </a:p>
        </p:txBody>
      </p:sp>
      <p:sp>
        <p:nvSpPr>
          <p:cNvPr id="2043400848" name="Text Placeholder 2"/>
          <p:cNvSpPr/>
          <p:nvPr>
            <p:ph type="body" idx="101"/>
          </p:nvPr>
        </p:nvSpPr>
        <p:spPr bwMode="auto">
          <a:xfrm>
            <a:off x="812800" y="1584920"/>
            <a:ext cx="10566400" cy="4460280"/>
          </a:xfrm>
          <a:prstGeom prst="rect">
            <a:avLst/>
          </a:prstGeom>
          <a:noFill/>
          <a:ln/>
        </p:spPr>
        <p:txBody>
          <a:bodyPr wrap="square" lIns="0" tIns="0" rIns="0" bIns="0" rtlCol="0" anchor="t"/>
          <a:lstStyle>
            <a:lvl1pPr marL="0" indent="0" algn="l">
              <a:lnSpc>
                <a:spcPct val="140000"/>
              </a:lnSpc>
              <a:buNone/>
              <a:defRPr lang="en-US" sz="1600">
                <a:solidFill>
                  <a:srgbClr val="17202B"/>
                </a:solidFill>
                <a:latin typeface="Arial"/>
                <a:ea typeface="Arial"/>
                <a:cs typeface="Arial"/>
              </a:defRPr>
            </a:lvl1pPr>
          </a:lstStyle>
          <a:p>
            <a:pPr marL="0" indent="0" algn="l">
              <a:lnSpc>
                <a:spcPct val="140000"/>
              </a:lnSpc>
              <a:buNone/>
              <a:defRPr/>
            </a:pPr>
            <a:endParaRPr lang="en-US" sz="1600"/>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6F5F1"/>
        </a:solidFill>
      </p:bgPr>
    </p:bg>
    <p:spTree>
      <p:nvGrpSpPr>
        <p:cNvPr id="1" name=""/>
        <p:cNvGrpSpPr/>
        <p:nvPr/>
      </p:nvGrpSpPr>
      <p:grpSpPr bwMode="auto">
        <a:xfrm>
          <a:off x="0" y="0"/>
          <a:ext cx="0" cy="0"/>
          <a:chOff x="0" y="0"/>
          <a:chExt cx="0" cy="0"/>
        </a:xfrm>
      </p:grpSpPr>
      <p:sp>
        <p:nvSpPr>
          <p:cNvPr id="1126808769" name="Title Placeholder 1"/>
          <p:cNvSpPr/>
          <p:nvPr>
            <p:ph type="title"/>
          </p:nvPr>
        </p:nvSpPr>
        <p:spPr bwMode="auto">
          <a:xfrm>
            <a:off x="812800" y="812800"/>
            <a:ext cx="10566400" cy="467320"/>
          </a:xfrm>
          <a:prstGeom prst="rect">
            <a:avLst/>
          </a:prstGeom>
          <a:noFill/>
          <a:ln/>
        </p:spPr>
        <p:txBody>
          <a:bodyPr wrap="square" lIns="0" tIns="0" rIns="0" bIns="0" rtlCol="0" anchor="t"/>
          <a:lstStyle>
            <a:lvl1pPr marL="0" indent="0" algn="l">
              <a:lnSpc>
                <a:spcPct val="115000"/>
              </a:lnSpc>
              <a:buNone/>
              <a:defRPr lang="en-US" sz="3200">
                <a:solidFill>
                  <a:srgbClr val="17202B"/>
                </a:solidFill>
                <a:latin typeface="Arial"/>
                <a:ea typeface="Arial"/>
                <a:cs typeface="Arial"/>
              </a:defRPr>
            </a:lvl1pPr>
          </a:lstStyle>
          <a:p>
            <a:pPr marL="0" indent="0" algn="l">
              <a:lnSpc>
                <a:spcPct val="115000"/>
              </a:lnSpc>
              <a:buNone/>
              <a:defRPr/>
            </a:pPr>
            <a:endParaRPr lang="en-US" sz="3200"/>
          </a:p>
        </p:txBody>
      </p:sp>
      <p:sp>
        <p:nvSpPr>
          <p:cNvPr id="828775711" name="Text Placeholder 2"/>
          <p:cNvSpPr/>
          <p:nvPr>
            <p:ph type="body" idx="101"/>
          </p:nvPr>
        </p:nvSpPr>
        <p:spPr bwMode="auto">
          <a:xfrm>
            <a:off x="812800" y="1584920"/>
            <a:ext cx="10566400" cy="4460280"/>
          </a:xfrm>
          <a:prstGeom prst="rect">
            <a:avLst/>
          </a:prstGeom>
          <a:noFill/>
          <a:ln/>
        </p:spPr>
        <p:txBody>
          <a:bodyPr wrap="square" lIns="0" tIns="0" rIns="0" bIns="0" rtlCol="0" anchor="t"/>
          <a:lstStyle>
            <a:lvl1pPr marL="0" indent="0" algn="l">
              <a:lnSpc>
                <a:spcPct val="140000"/>
              </a:lnSpc>
              <a:buNone/>
              <a:defRPr lang="en-US" sz="1600">
                <a:solidFill>
                  <a:srgbClr val="17202B"/>
                </a:solidFill>
                <a:latin typeface="Arial"/>
                <a:ea typeface="Arial"/>
                <a:cs typeface="Arial"/>
              </a:defRPr>
            </a:lvl1pPr>
          </a:lstStyle>
          <a:p>
            <a:pPr marL="0" indent="0" algn="l">
              <a:lnSpc>
                <a:spcPct val="140000"/>
              </a:lnSpc>
              <a:buNone/>
              <a:defRPr/>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7202B"/>
        </a:solidFill>
      </p:bgPr>
    </p:bg>
    <p:spTree>
      <p:nvGrpSpPr>
        <p:cNvPr id="1" name=""/>
        <p:cNvGrpSpPr/>
        <p:nvPr/>
      </p:nvGrpSpPr>
      <p:grpSpPr bwMode="auto">
        <a:xfrm>
          <a:off x="0" y="0"/>
          <a:ext cx="0" cy="0"/>
          <a:chOff x="0" y="0"/>
          <a:chExt cx="0" cy="0"/>
        </a:xfrm>
      </p:grpSpPr>
      <p:sp>
        <p:nvSpPr>
          <p:cNvPr id="978475307" name="Text 0"/>
          <p:cNvSpPr/>
          <p:nvPr/>
        </p:nvSpPr>
        <p:spPr bwMode="auto">
          <a:xfrm>
            <a:off x="812800" y="812800"/>
            <a:ext cx="10883392" cy="292100"/>
          </a:xfrm>
          <a:prstGeom prst="rect">
            <a:avLst/>
          </a:prstGeom>
          <a:noFill/>
          <a:ln/>
        </p:spPr>
        <p:txBody>
          <a:bodyPr wrap="square" lIns="0" tIns="0" rIns="0" bIns="0" rtlCol="0" anchor="t">
            <a:normAutofit/>
          </a:bodyPr>
          <a:lstStyle/>
          <a:p>
            <a:pPr marL="0" indent="0" algn="l">
              <a:lnSpc>
                <a:spcPts val="2100"/>
              </a:lnSpc>
              <a:buNone/>
              <a:defRPr/>
            </a:pPr>
            <a:r>
              <a:rPr lang="en-US" sz="1500" spc="50">
                <a:solidFill>
                  <a:srgbClr val="8FB3F0"/>
                </a:solidFill>
                <a:latin typeface="Courier New"/>
                <a:ea typeface="Courier New"/>
                <a:cs typeface="Courier New"/>
              </a:rPr>
              <a:t>scripts/blant-clusters.sh</a:t>
            </a:r>
            <a:endParaRPr lang="en-US" sz="1500"/>
          </a:p>
        </p:txBody>
      </p:sp>
      <p:sp>
        <p:nvSpPr>
          <p:cNvPr id="157576648" name="Text 1"/>
          <p:cNvSpPr/>
          <p:nvPr>
            <p:ph type="title"/>
          </p:nvPr>
        </p:nvSpPr>
        <p:spPr bwMode="auto">
          <a:xfrm>
            <a:off x="812800" y="4648200"/>
            <a:ext cx="10883392" cy="825500"/>
          </a:xfrm>
          <a:prstGeom prst="rect">
            <a:avLst/>
          </a:prstGeom>
          <a:noFill/>
          <a:ln/>
        </p:spPr>
        <p:txBody>
          <a:bodyPr vertOverflow="overflow" horzOverflow="overflow" vert="horz" wrap="square" lIns="0" tIns="0" rIns="0" bIns="0" numCol="1" spcCol="0" rtlCol="0" fromWordArt="0" anchor="t" anchorCtr="0" forceAA="0" upright="0" compatLnSpc="0">
            <a:normAutofit fontScale="90000" lnSpcReduction="2000"/>
          </a:bodyPr>
          <a:lstStyle/>
          <a:p>
            <a:pPr marL="0" indent="0" algn="l">
              <a:lnSpc>
                <a:spcPts val="6300"/>
              </a:lnSpc>
              <a:buNone/>
              <a:defRPr/>
            </a:pPr>
            <a:r>
              <a:rPr lang="en-US" sz="6000" b="1" i="0" u="none" strike="noStrike" cap="none" spc="0">
                <a:solidFill>
                  <a:srgbClr val="F6F5F1"/>
                </a:solidFill>
                <a:latin typeface="Arial"/>
                <a:ea typeface="Arial"/>
                <a:cs typeface="Arial"/>
              </a:rPr>
              <a:t>Optimizing BLANT’s community finder</a:t>
            </a:r>
            <a:endParaRPr lang="en-US" sz="6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6F5F1"/>
        </a:solidFill>
      </p:bgPr>
    </p:bg>
    <p:spTree>
      <p:nvGrpSpPr>
        <p:cNvPr id="1" name=""/>
        <p:cNvGrpSpPr/>
        <p:nvPr/>
      </p:nvGrpSpPr>
      <p:grpSpPr bwMode="auto">
        <a:xfrm>
          <a:off x="0" y="0"/>
          <a:ext cx="0" cy="0"/>
          <a:chOff x="0" y="0"/>
          <a:chExt cx="0" cy="0"/>
        </a:xfrm>
      </p:grpSpPr>
      <p:sp>
        <p:nvSpPr>
          <p:cNvPr id="1411130742" name="Text 0"/>
          <p:cNvSpPr/>
          <p:nvPr>
            <p:ph type="title"/>
          </p:nvPr>
        </p:nvSpPr>
        <p:spPr bwMode="auto">
          <a:xfrm>
            <a:off x="812800" y="812800"/>
            <a:ext cx="10883392" cy="492720"/>
          </a:xfrm>
          <a:prstGeom prst="rect">
            <a:avLst/>
          </a:prstGeom>
          <a:noFill/>
          <a:ln/>
        </p:spPr>
        <p:txBody>
          <a:bodyPr wrap="square" lIns="0" tIns="0" rIns="0" bIns="0" rtlCol="0" anchor="t">
            <a:normAutofit/>
          </a:bodyPr>
          <a:lstStyle/>
          <a:p>
            <a:pPr marL="0" indent="0" algn="l">
              <a:lnSpc>
                <a:spcPts val="3680"/>
              </a:lnSpc>
              <a:buNone/>
              <a:defRPr/>
            </a:pPr>
            <a:r>
              <a:rPr lang="en-US" sz="3200" b="1" i="0">
                <a:solidFill>
                  <a:srgbClr val="17202B"/>
                </a:solidFill>
                <a:latin typeface="Arial"/>
                <a:ea typeface="Arial"/>
                <a:cs typeface="Arial"/>
              </a:rPr>
              <a:t>The pipeline</a:t>
            </a:r>
            <a:endParaRPr lang="en-US" sz="3200"/>
          </a:p>
        </p:txBody>
      </p:sp>
      <p:pic>
        <p:nvPicPr>
          <p:cNvPr id="1719856990" name="Picture 2" descr="fig1-pipeline.png"/>
          <p:cNvPicPr>
            <a:picLocks noChangeAspect="1"/>
          </p:cNvPicPr>
          <p:nvPr/>
        </p:nvPicPr>
        <p:blipFill rotWithShape="1">
          <a:blip r:embed="rId3"/>
          <a:stretch/>
        </p:blipFill>
        <p:spPr bwMode="auto">
          <a:xfrm>
            <a:off x="812800" y="2081796"/>
            <a:ext cx="10883392" cy="344640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6F5F1"/>
        </a:solidFill>
      </p:bgPr>
    </p:bg>
    <p:spTree>
      <p:nvGrpSpPr>
        <p:cNvPr id="1" name=""/>
        <p:cNvGrpSpPr/>
        <p:nvPr/>
      </p:nvGrpSpPr>
      <p:grpSpPr bwMode="auto">
        <a:xfrm>
          <a:off x="0" y="0"/>
          <a:ext cx="0" cy="0"/>
          <a:chOff x="0" y="0"/>
          <a:chExt cx="0" cy="0"/>
        </a:xfrm>
      </p:grpSpPr>
      <p:sp>
        <p:nvSpPr>
          <p:cNvPr id="1133033849" name="Text 0"/>
          <p:cNvSpPr/>
          <p:nvPr>
            <p:ph type="title"/>
          </p:nvPr>
        </p:nvSpPr>
        <p:spPr bwMode="auto">
          <a:xfrm>
            <a:off x="812800" y="812800"/>
            <a:ext cx="10883392" cy="492720"/>
          </a:xfrm>
          <a:prstGeom prst="rect">
            <a:avLst/>
          </a:prstGeom>
          <a:noFill/>
          <a:ln/>
        </p:spPr>
        <p:txBody>
          <a:bodyPr wrap="square" lIns="0" tIns="0" rIns="0" bIns="0" rtlCol="0" anchor="t">
            <a:normAutofit/>
          </a:bodyPr>
          <a:lstStyle/>
          <a:p>
            <a:pPr marL="0" indent="0" algn="l">
              <a:lnSpc>
                <a:spcPts val="3680"/>
              </a:lnSpc>
              <a:buNone/>
              <a:defRPr/>
            </a:pPr>
            <a:r>
              <a:rPr lang="en-US" sz="3200" b="1" i="0">
                <a:solidFill>
                  <a:srgbClr val="17202B"/>
                </a:solidFill>
                <a:latin typeface="Arial"/>
                <a:ea typeface="Arial"/>
                <a:cs typeface="Arial"/>
              </a:rPr>
              <a:t>Master on com-Amazon</a:t>
            </a:r>
            <a:endParaRPr lang="en-US" sz="3200"/>
          </a:p>
        </p:txBody>
      </p:sp>
      <p:sp>
        <p:nvSpPr>
          <p:cNvPr id="1313458843" name="TextBox 2"/>
          <p:cNvSpPr txBox="1"/>
          <p:nvPr/>
        </p:nvSpPr>
        <p:spPr bwMode="auto">
          <a:xfrm>
            <a:off x="812799" y="5989999"/>
            <a:ext cx="10891671" cy="427079"/>
          </a:xfrm>
          <a:prstGeom prst="rect">
            <a:avLst/>
          </a:prstGeom>
          <a:noFill/>
        </p:spPr>
        <p:txBody>
          <a:bodyPr wrap="square" lIns="0" tIns="0" rIns="0" bIns="0">
            <a:spAutoFit/>
          </a:bodyPr>
          <a:lstStyle/>
          <a:p>
            <a:pPr>
              <a:lnSpc>
                <a:spcPts val="1680"/>
              </a:lnSpc>
              <a:defRPr/>
            </a:pPr>
            <a:r>
              <a:rPr sz="1200">
                <a:solidFill>
                  <a:srgbClr val="6A7179"/>
                </a:solidFill>
                <a:latin typeface="Arial"/>
              </a:rPr>
              <a:t>master, k = 4, one -p0.9L BLANT sample (7.5 h to produce); EDs run one after another; times from its intermediate files</a:t>
            </a:r>
            <a:endParaRPr sz="1200">
              <a:solidFill>
                <a:srgbClr val="6A7179"/>
              </a:solidFill>
              <a:latin typeface="Arial"/>
            </a:endParaRPr>
          </a:p>
          <a:p>
            <a:pPr>
              <a:lnSpc>
                <a:spcPts val="1680"/>
              </a:lnSpc>
              <a:defRPr/>
            </a:pPr>
            <a:r>
              <a:rPr sz="1200">
                <a:solidFill>
                  <a:srgbClr val="6A7179"/>
                </a:solidFill>
                <a:latin typeface="Arial"/>
              </a:rPr>
              <a:t>Ran on Mac Mini M1</a:t>
            </a:r>
            <a:endParaRPr/>
          </a:p>
        </p:txBody>
      </p:sp>
      <p:pic>
        <p:nvPicPr>
          <p:cNvPr id="226330012" name="Picture 3" descr="fig2-time.png"/>
          <p:cNvPicPr>
            <a:picLocks noChangeAspect="1"/>
          </p:cNvPicPr>
          <p:nvPr/>
        </p:nvPicPr>
        <p:blipFill rotWithShape="1">
          <a:blip r:embed="rId3"/>
          <a:stretch/>
        </p:blipFill>
        <p:spPr bwMode="auto">
          <a:xfrm>
            <a:off x="812800" y="2444576"/>
            <a:ext cx="10883392" cy="27208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6F5F1"/>
        </a:solidFill>
      </p:bgPr>
    </p:bg>
    <p:spTree>
      <p:nvGrpSpPr>
        <p:cNvPr id="1" name=""/>
        <p:cNvGrpSpPr/>
        <p:nvPr/>
      </p:nvGrpSpPr>
      <p:grpSpPr bwMode="auto">
        <a:xfrm>
          <a:off x="0" y="0"/>
          <a:ext cx="0" cy="0"/>
          <a:chOff x="0" y="0"/>
          <a:chExt cx="0" cy="0"/>
        </a:xfrm>
      </p:grpSpPr>
      <p:sp>
        <p:nvSpPr>
          <p:cNvPr id="528188462" name="Text 0"/>
          <p:cNvSpPr/>
          <p:nvPr>
            <p:ph type="title"/>
          </p:nvPr>
        </p:nvSpPr>
        <p:spPr bwMode="auto">
          <a:xfrm>
            <a:off x="812800" y="812800"/>
            <a:ext cx="10883392" cy="492720"/>
          </a:xfrm>
          <a:prstGeom prst="rect">
            <a:avLst/>
          </a:prstGeom>
          <a:noFill/>
          <a:ln/>
        </p:spPr>
        <p:txBody>
          <a:bodyPr wrap="square" lIns="0" tIns="0" rIns="0" bIns="0" rtlCol="0" anchor="t">
            <a:normAutofit/>
          </a:bodyPr>
          <a:lstStyle/>
          <a:p>
            <a:pPr marL="0" indent="0" algn="l">
              <a:lnSpc>
                <a:spcPts val="3680"/>
              </a:lnSpc>
              <a:buNone/>
              <a:defRPr/>
            </a:pPr>
            <a:r>
              <a:rPr lang="en-US" sz="3200" b="1" i="0">
                <a:solidFill>
                  <a:srgbClr val="17202B"/>
                </a:solidFill>
                <a:latin typeface="Arial"/>
                <a:ea typeface="Arial"/>
                <a:cs typeface="Arial"/>
              </a:rPr>
              <a:t>One read per sample file, streamed to every ED</a:t>
            </a:r>
            <a:endParaRPr lang="en-US" sz="3200"/>
          </a:p>
        </p:txBody>
      </p:sp>
      <p:sp>
        <p:nvSpPr>
          <p:cNvPr id="1847055454" name="TextBox 2"/>
          <p:cNvSpPr txBox="1"/>
          <p:nvPr/>
        </p:nvSpPr>
        <p:spPr bwMode="auto">
          <a:xfrm>
            <a:off x="812799" y="5989999"/>
            <a:ext cx="10895631" cy="427079"/>
          </a:xfrm>
          <a:prstGeom prst="rect">
            <a:avLst/>
          </a:prstGeom>
          <a:noFill/>
        </p:spPr>
        <p:txBody>
          <a:bodyPr wrap="square" lIns="0" tIns="0" rIns="0" bIns="0">
            <a:spAutoFit/>
          </a:bodyPr>
          <a:lstStyle/>
          <a:p>
            <a:pPr>
              <a:lnSpc>
                <a:spcPts val="1680"/>
              </a:lnSpc>
              <a:defRPr/>
            </a:pPr>
            <a:r>
              <a:rPr sz="1200">
                <a:solidFill>
                  <a:srgbClr val="6A7179"/>
                </a:solidFill>
                <a:latin typeface="Arial"/>
              </a:rPr>
              <a:t>master re-reads and re-aggregates once per ED</a:t>
            </a:r>
            <a:endParaRPr sz="1200">
              <a:solidFill>
                <a:srgbClr val="6A7179"/>
              </a:solidFill>
              <a:latin typeface="Arial"/>
            </a:endParaRPr>
          </a:p>
          <a:p>
            <a:pPr>
              <a:lnSpc>
                <a:spcPts val="1680"/>
              </a:lnSpc>
              <a:defRPr/>
            </a:pPr>
            <a:r>
              <a:rPr sz="1200">
                <a:solidFill>
                  <a:srgbClr val="6A7179"/>
                </a:solidFill>
                <a:latin typeface="Arial"/>
              </a:rPr>
              <a:t>After optimization, reads once and sort with LC_ALL=C</a:t>
            </a:r>
            <a:endParaRPr/>
          </a:p>
        </p:txBody>
      </p:sp>
      <p:pic>
        <p:nvPicPr>
          <p:cNvPr id="38322384" name="Picture 3" descr="fig3-aggregate.png"/>
          <p:cNvPicPr>
            <a:picLocks noChangeAspect="1"/>
          </p:cNvPicPr>
          <p:nvPr/>
        </p:nvPicPr>
        <p:blipFill rotWithShape="1">
          <a:blip r:embed="rId3"/>
          <a:stretch/>
        </p:blipFill>
        <p:spPr bwMode="auto">
          <a:xfrm>
            <a:off x="812800" y="2716661"/>
            <a:ext cx="10883392" cy="21766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6F5F1"/>
        </a:solidFill>
      </p:bgPr>
    </p:bg>
    <p:spTree>
      <p:nvGrpSpPr>
        <p:cNvPr id="1" name=""/>
        <p:cNvGrpSpPr/>
        <p:nvPr/>
      </p:nvGrpSpPr>
      <p:grpSpPr bwMode="auto">
        <a:xfrm>
          <a:off x="0" y="0"/>
          <a:ext cx="0" cy="0"/>
          <a:chOff x="0" y="0"/>
          <a:chExt cx="0" cy="0"/>
        </a:xfrm>
      </p:grpSpPr>
      <p:sp>
        <p:nvSpPr>
          <p:cNvPr id="423534832" name="Text 0"/>
          <p:cNvSpPr/>
          <p:nvPr>
            <p:ph type="title"/>
          </p:nvPr>
        </p:nvSpPr>
        <p:spPr bwMode="auto">
          <a:xfrm>
            <a:off x="812800" y="812800"/>
            <a:ext cx="10883392" cy="960041"/>
          </a:xfrm>
          <a:prstGeom prst="rect">
            <a:avLst/>
          </a:prstGeom>
          <a:noFill/>
          <a:ln/>
        </p:spPr>
        <p:txBody>
          <a:bodyPr wrap="square" lIns="0" tIns="0" rIns="0" bIns="0" rtlCol="0" anchor="t">
            <a:normAutofit/>
          </a:bodyPr>
          <a:lstStyle/>
          <a:p>
            <a:pPr marL="0" indent="0" algn="l">
              <a:lnSpc>
                <a:spcPts val="3680"/>
              </a:lnSpc>
              <a:buNone/>
              <a:defRPr/>
            </a:pPr>
            <a:r>
              <a:rPr lang="en-US" sz="3200" b="1" i="0">
                <a:solidFill>
                  <a:srgbClr val="17202B"/>
                </a:solidFill>
                <a:latin typeface="Arial"/>
                <a:ea typeface="Arial"/>
                <a:cs typeface="Arial"/>
              </a:rPr>
              <a:t>Cluster growth: most candidates are rejected, so reject cheaply</a:t>
            </a:r>
            <a:endParaRPr lang="en-US" sz="3200"/>
          </a:p>
        </p:txBody>
      </p:sp>
      <p:pic>
        <p:nvPicPr>
          <p:cNvPr id="884617107" name="Picture 3" descr="fig4-growth.png"/>
          <p:cNvPicPr>
            <a:picLocks noChangeAspect="1"/>
          </p:cNvPicPr>
          <p:nvPr/>
        </p:nvPicPr>
        <p:blipFill rotWithShape="1">
          <a:blip r:embed="rId3"/>
          <a:stretch/>
        </p:blipFill>
        <p:spPr bwMode="auto">
          <a:xfrm>
            <a:off x="812800" y="2535271"/>
            <a:ext cx="10883392" cy="253945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6F5F1"/>
        </a:solidFill>
      </p:bgPr>
    </p:bg>
    <p:spTree>
      <p:nvGrpSpPr>
        <p:cNvPr id="1" name=""/>
        <p:cNvGrpSpPr/>
        <p:nvPr/>
      </p:nvGrpSpPr>
      <p:grpSpPr bwMode="auto">
        <a:xfrm>
          <a:off x="0" y="0"/>
          <a:ext cx="0" cy="0"/>
          <a:chOff x="0" y="0"/>
          <a:chExt cx="0" cy="0"/>
        </a:xfrm>
      </p:grpSpPr>
      <p:sp>
        <p:nvSpPr>
          <p:cNvPr id="915346674" name="Text 0"/>
          <p:cNvSpPr/>
          <p:nvPr>
            <p:ph type="title"/>
          </p:nvPr>
        </p:nvSpPr>
        <p:spPr bwMode="auto">
          <a:xfrm>
            <a:off x="812800" y="812800"/>
            <a:ext cx="10883392" cy="960041"/>
          </a:xfrm>
          <a:prstGeom prst="rect">
            <a:avLst/>
          </a:prstGeom>
          <a:noFill/>
          <a:ln/>
        </p:spPr>
        <p:txBody>
          <a:bodyPr wrap="square" lIns="0" tIns="0" rIns="0" bIns="0" rtlCol="0" anchor="t">
            <a:normAutofit/>
          </a:bodyPr>
          <a:lstStyle/>
          <a:p>
            <a:pPr marL="0" indent="0" algn="l">
              <a:lnSpc>
                <a:spcPts val="3680"/>
              </a:lnSpc>
              <a:buNone/>
              <a:defRPr/>
            </a:pPr>
            <a:r>
              <a:rPr lang="en-US" sz="3200" b="1" i="0">
                <a:solidFill>
                  <a:srgbClr val="17202B"/>
                </a:solidFill>
                <a:latin typeface="Arial"/>
                <a:ea typeface="Arial"/>
                <a:cs typeface="Arial"/>
              </a:rPr>
              <a:t>Dedupe and merge: check only clusters that share a node</a:t>
            </a:r>
            <a:endParaRPr lang="en-US" sz="3200"/>
          </a:p>
        </p:txBody>
      </p:sp>
      <p:sp>
        <p:nvSpPr>
          <p:cNvPr id="646779632" name="TextBox 2"/>
          <p:cNvSpPr txBox="1"/>
          <p:nvPr/>
        </p:nvSpPr>
        <p:spPr bwMode="auto">
          <a:xfrm>
            <a:off x="812800" y="5990000"/>
            <a:ext cx="10883392" cy="476250"/>
          </a:xfrm>
          <a:prstGeom prst="rect">
            <a:avLst/>
          </a:prstGeom>
          <a:noFill/>
        </p:spPr>
        <p:txBody>
          <a:bodyPr wrap="square" lIns="0" tIns="0" rIns="0" bIns="0">
            <a:spAutoFit/>
          </a:bodyPr>
          <a:lstStyle/>
          <a:p>
            <a:pPr>
              <a:lnSpc>
                <a:spcPts val="1680"/>
              </a:lnSpc>
              <a:defRPr/>
            </a:pPr>
            <a:r>
              <a:rPr sz="1200">
                <a:solidFill>
                  <a:srgbClr val="6A7179"/>
                </a:solidFill>
                <a:latin typeface="Arial"/>
              </a:rPr>
              <a:t>Exact duplicates: one hash lookup of the sorted members.</a:t>
            </a:r>
            <a:endParaRPr/>
          </a:p>
        </p:txBody>
      </p:sp>
      <p:pic>
        <p:nvPicPr>
          <p:cNvPr id="1049453897" name="Picture 3" descr="fig5-merge.png"/>
          <p:cNvPicPr>
            <a:picLocks noChangeAspect="1"/>
          </p:cNvPicPr>
          <p:nvPr/>
        </p:nvPicPr>
        <p:blipFill rotWithShape="1">
          <a:blip r:embed="rId3"/>
          <a:stretch/>
        </p:blipFill>
        <p:spPr bwMode="auto">
          <a:xfrm>
            <a:off x="812800" y="2353881"/>
            <a:ext cx="10883392" cy="29022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6F5F1"/>
        </a:solidFill>
      </p:bgPr>
    </p:bg>
    <p:spTree>
      <p:nvGrpSpPr>
        <p:cNvPr id="1" name=""/>
        <p:cNvGrpSpPr/>
        <p:nvPr/>
      </p:nvGrpSpPr>
      <p:grpSpPr bwMode="auto">
        <a:xfrm>
          <a:off x="0" y="0"/>
          <a:ext cx="0" cy="0"/>
          <a:chOff x="0" y="0"/>
          <a:chExt cx="0" cy="0"/>
        </a:xfrm>
      </p:grpSpPr>
      <p:sp>
        <p:nvSpPr>
          <p:cNvPr id="417168068" name="Text 0"/>
          <p:cNvSpPr/>
          <p:nvPr>
            <p:ph type="title"/>
          </p:nvPr>
        </p:nvSpPr>
        <p:spPr bwMode="auto">
          <a:xfrm>
            <a:off x="812800" y="812800"/>
            <a:ext cx="10883392" cy="960041"/>
          </a:xfrm>
          <a:prstGeom prst="rect">
            <a:avLst/>
          </a:prstGeom>
          <a:noFill/>
          <a:ln/>
        </p:spPr>
        <p:txBody>
          <a:bodyPr wrap="square" lIns="0" tIns="0" rIns="0" bIns="0" rtlCol="0" anchor="t">
            <a:normAutofit/>
          </a:bodyPr>
          <a:lstStyle/>
          <a:p>
            <a:pPr marL="0" indent="0" algn="l">
              <a:lnSpc>
                <a:spcPts val="3680"/>
              </a:lnSpc>
              <a:buNone/>
              <a:defRPr/>
            </a:pPr>
            <a:r>
              <a:rPr lang="en-US" sz="3200" b="1" i="0">
                <a:solidFill>
                  <a:srgbClr val="17202B"/>
                </a:solidFill>
                <a:latin typeface="Arial"/>
                <a:ea typeface="Arial"/>
                <a:cs typeface="Arial"/>
              </a:rPr>
              <a:t>Speedup more when the number of clusters grows</a:t>
            </a:r>
            <a:endParaRPr lang="en-US" sz="3200"/>
          </a:p>
        </p:txBody>
      </p:sp>
      <p:sp>
        <p:nvSpPr>
          <p:cNvPr id="231135816" name="Text 1"/>
          <p:cNvSpPr/>
          <p:nvPr/>
        </p:nvSpPr>
        <p:spPr bwMode="auto">
          <a:xfrm>
            <a:off x="812800" y="1899841"/>
            <a:ext cx="10883392" cy="292100"/>
          </a:xfrm>
          <a:prstGeom prst="rect">
            <a:avLst/>
          </a:prstGeom>
          <a:noFill/>
          <a:ln/>
        </p:spPr>
        <p:txBody>
          <a:bodyPr wrap="square" lIns="0" tIns="0" rIns="0" bIns="0" rtlCol="0" anchor="t">
            <a:normAutofit/>
          </a:bodyPr>
          <a:lstStyle/>
          <a:p>
            <a:pPr marL="0" indent="0" algn="l">
              <a:lnSpc>
                <a:spcPts val="2100"/>
              </a:lnSpc>
              <a:buNone/>
              <a:defRPr/>
            </a:pPr>
            <a:r>
              <a:rPr lang="en-US" sz="1500">
                <a:solidFill>
                  <a:srgbClr val="4A5260"/>
                </a:solidFill>
                <a:latin typeface="Arial"/>
                <a:ea typeface="Arial"/>
                <a:cs typeface="Arial"/>
              </a:rPr>
              <a:t>Speedup over master, same BLANT samples and seed. Gray: lab PPI networks, k = 4–6. Blue: SNAP graphs, k = 5.</a:t>
            </a:r>
            <a:endParaRPr lang="en-US" sz="1500"/>
          </a:p>
        </p:txBody>
      </p:sp>
      <p:pic>
        <p:nvPicPr>
          <p:cNvPr id="227725206" name="Picture 5" descr="fig6-speedup.png"/>
          <p:cNvPicPr>
            <a:picLocks noChangeAspect="1"/>
          </p:cNvPicPr>
          <p:nvPr/>
        </p:nvPicPr>
        <p:blipFill rotWithShape="1">
          <a:blip r:embed="rId3"/>
          <a:stretch/>
        </p:blipFill>
        <p:spPr bwMode="auto">
          <a:xfrm>
            <a:off x="1347716" y="2240000"/>
            <a:ext cx="9813559" cy="3860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6F5F1"/>
        </a:solidFill>
      </p:bgPr>
    </p:bg>
    <p:spTree>
      <p:nvGrpSpPr>
        <p:cNvPr id="1" name=""/>
        <p:cNvGrpSpPr/>
        <p:nvPr/>
      </p:nvGrpSpPr>
      <p:grpSpPr bwMode="auto">
        <a:xfrm>
          <a:off x="0" y="0"/>
          <a:ext cx="0" cy="0"/>
          <a:chOff x="0" y="0"/>
          <a:chExt cx="0" cy="0"/>
        </a:xfrm>
      </p:grpSpPr>
      <p:sp>
        <p:nvSpPr>
          <p:cNvPr id="1474523057" name="Text 0"/>
          <p:cNvSpPr/>
          <p:nvPr>
            <p:ph type="title"/>
          </p:nvPr>
        </p:nvSpPr>
        <p:spPr bwMode="auto">
          <a:xfrm>
            <a:off x="812800" y="812800"/>
            <a:ext cx="10883392" cy="492720"/>
          </a:xfrm>
          <a:prstGeom prst="rect">
            <a:avLst/>
          </a:prstGeom>
          <a:noFill/>
          <a:ln/>
        </p:spPr>
        <p:txBody>
          <a:bodyPr vertOverflow="overflow" horzOverflow="overflow" vert="horz" wrap="square" lIns="0" tIns="0" rIns="0" bIns="0" numCol="1" spcCol="0" rtlCol="0" fromWordArt="0" anchor="t" anchorCtr="0" forceAA="0" upright="0" compatLnSpc="0">
            <a:normAutofit/>
          </a:bodyPr>
          <a:lstStyle/>
          <a:p>
            <a:pPr marL="0" indent="0" algn="l">
              <a:lnSpc>
                <a:spcPts val="3680"/>
              </a:lnSpc>
              <a:buNone/>
              <a:defRPr/>
            </a:pPr>
            <a:r>
              <a:rPr lang="en-US" sz="3200" b="1" i="0" u="none" strike="noStrike" cap="none" spc="0">
                <a:solidFill>
                  <a:srgbClr val="17202B"/>
                </a:solidFill>
                <a:latin typeface="Arial"/>
                <a:ea typeface="Arial"/>
                <a:cs typeface="Arial"/>
              </a:rPr>
              <a:t>Speedup more when the number of clusters grows</a:t>
            </a:r>
            <a:endParaRPr sz="3200"/>
          </a:p>
        </p:txBody>
      </p:sp>
      <p:sp>
        <p:nvSpPr>
          <p:cNvPr id="809244096" name="Text 1"/>
          <p:cNvSpPr/>
          <p:nvPr/>
        </p:nvSpPr>
        <p:spPr bwMode="auto">
          <a:xfrm>
            <a:off x="812800" y="1725910"/>
            <a:ext cx="2223770" cy="309860"/>
          </a:xfrm>
          <a:prstGeom prst="rect">
            <a:avLst/>
          </a:prstGeom>
          <a:noFill/>
          <a:ln/>
        </p:spPr>
        <p:txBody>
          <a:bodyPr wrap="square" lIns="0" tIns="0" rIns="0" bIns="0" rtlCol="0" anchor="t">
            <a:normAutofit/>
          </a:bodyPr>
          <a:lstStyle/>
          <a:p>
            <a:pPr marL="0" indent="0" algn="l">
              <a:lnSpc>
                <a:spcPts val="2240"/>
              </a:lnSpc>
              <a:buNone/>
              <a:defRPr/>
            </a:pPr>
            <a:r>
              <a:rPr lang="en-US" sz="1600" b="1">
                <a:solidFill>
                  <a:srgbClr val="17202B"/>
                </a:solidFill>
                <a:latin typeface="Arial"/>
                <a:ea typeface="Arial"/>
                <a:cs typeface="Arial"/>
              </a:rPr>
              <a:t>com-DBLP</a:t>
            </a:r>
            <a:endParaRPr lang="en-US" sz="1600"/>
          </a:p>
        </p:txBody>
      </p:sp>
      <p:sp>
        <p:nvSpPr>
          <p:cNvPr id="669461010" name="Text 2"/>
          <p:cNvSpPr/>
          <p:nvPr/>
        </p:nvSpPr>
        <p:spPr bwMode="auto">
          <a:xfrm>
            <a:off x="812800" y="2018010"/>
            <a:ext cx="222377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A7179"/>
                </a:solidFill>
                <a:latin typeface="Arial"/>
                <a:ea typeface="Arial"/>
                <a:cs typeface="Arial"/>
              </a:rPr>
              <a:t>14,796 clusters · k = 5</a:t>
            </a:r>
            <a:endParaRPr lang="en-US" sz="1200"/>
          </a:p>
        </p:txBody>
      </p:sp>
      <p:sp>
        <p:nvSpPr>
          <p:cNvPr id="169364417" name="Shape 3"/>
          <p:cNvSpPr/>
          <p:nvPr/>
        </p:nvSpPr>
        <p:spPr bwMode="auto">
          <a:xfrm>
            <a:off x="3225800" y="1713210"/>
            <a:ext cx="8153399" cy="330200"/>
          </a:xfrm>
          <a:prstGeom prst="roundRect">
            <a:avLst>
              <a:gd name="adj" fmla="val 11538"/>
            </a:avLst>
          </a:prstGeom>
          <a:solidFill>
            <a:srgbClr val="E9A06B"/>
          </a:solidFill>
          <a:ln/>
        </p:spPr>
      </p:sp>
      <p:sp>
        <p:nvSpPr>
          <p:cNvPr id="1760501814" name="Text 4"/>
          <p:cNvSpPr/>
          <p:nvPr/>
        </p:nvSpPr>
        <p:spPr bwMode="auto">
          <a:xfrm>
            <a:off x="2985008" y="1764010"/>
            <a:ext cx="8267192" cy="256530"/>
          </a:xfrm>
          <a:prstGeom prst="rect">
            <a:avLst/>
          </a:prstGeom>
          <a:noFill/>
          <a:ln/>
        </p:spPr>
        <p:txBody>
          <a:bodyPr wrap="square" lIns="0" tIns="0" rIns="0" bIns="0" rtlCol="0" anchor="t">
            <a:normAutofit/>
          </a:bodyPr>
          <a:lstStyle/>
          <a:p>
            <a:pPr marL="0" indent="0" algn="r">
              <a:lnSpc>
                <a:spcPts val="1820"/>
              </a:lnSpc>
              <a:buNone/>
              <a:defRPr/>
            </a:pPr>
            <a:r>
              <a:rPr lang="en-US" sz="1300" b="1">
                <a:solidFill>
                  <a:srgbClr val="17202B"/>
                </a:solidFill>
                <a:latin typeface="Arial"/>
                <a:ea typeface="Arial"/>
                <a:cs typeface="Arial"/>
              </a:rPr>
              <a:t>master 41.8 min</a:t>
            </a:r>
            <a:endParaRPr lang="en-US" sz="1300"/>
          </a:p>
        </p:txBody>
      </p:sp>
      <p:sp>
        <p:nvSpPr>
          <p:cNvPr id="114928433" name="Shape 5"/>
          <p:cNvSpPr/>
          <p:nvPr/>
        </p:nvSpPr>
        <p:spPr bwMode="auto">
          <a:xfrm>
            <a:off x="3225800" y="2119610"/>
            <a:ext cx="190500" cy="330200"/>
          </a:xfrm>
          <a:prstGeom prst="roundRect">
            <a:avLst>
              <a:gd name="adj" fmla="val 20000"/>
            </a:avLst>
          </a:prstGeom>
          <a:solidFill>
            <a:srgbClr val="2F6BD6"/>
          </a:solidFill>
          <a:ln/>
        </p:spPr>
      </p:sp>
      <p:sp>
        <p:nvSpPr>
          <p:cNvPr id="1565984945" name="Text 6"/>
          <p:cNvSpPr/>
          <p:nvPr/>
        </p:nvSpPr>
        <p:spPr bwMode="auto">
          <a:xfrm>
            <a:off x="3517900" y="2170410"/>
            <a:ext cx="4578350" cy="256530"/>
          </a:xfrm>
          <a:prstGeom prst="rect">
            <a:avLst/>
          </a:prstGeom>
          <a:noFill/>
          <a:ln/>
        </p:spPr>
        <p:txBody>
          <a:bodyPr wrap="square" lIns="0" tIns="0" rIns="0" bIns="0" rtlCol="0" anchor="t">
            <a:normAutofit/>
          </a:bodyPr>
          <a:lstStyle/>
          <a:p>
            <a:pPr marL="0" indent="0" algn="l">
              <a:lnSpc>
                <a:spcPts val="1820"/>
              </a:lnSpc>
              <a:buNone/>
              <a:defRPr/>
            </a:pPr>
            <a:r>
              <a:rPr lang="en-US" sz="1300" b="1">
                <a:solidFill>
                  <a:srgbClr val="2F6BD6"/>
                </a:solidFill>
                <a:latin typeface="Arial"/>
                <a:ea typeface="Arial"/>
                <a:cs typeface="Arial"/>
              </a:rPr>
              <a:t>branch 58.5 s · 42.8×</a:t>
            </a:r>
            <a:endParaRPr lang="en-US" sz="1300"/>
          </a:p>
        </p:txBody>
      </p:sp>
      <p:sp>
        <p:nvSpPr>
          <p:cNvPr id="1646171879" name="Text 7"/>
          <p:cNvSpPr/>
          <p:nvPr/>
        </p:nvSpPr>
        <p:spPr bwMode="auto">
          <a:xfrm>
            <a:off x="812800" y="2773660"/>
            <a:ext cx="2223770" cy="309860"/>
          </a:xfrm>
          <a:prstGeom prst="rect">
            <a:avLst/>
          </a:prstGeom>
          <a:noFill/>
          <a:ln/>
        </p:spPr>
        <p:txBody>
          <a:bodyPr wrap="square" lIns="0" tIns="0" rIns="0" bIns="0" rtlCol="0" anchor="t">
            <a:normAutofit/>
          </a:bodyPr>
          <a:lstStyle/>
          <a:p>
            <a:pPr marL="0" indent="0" algn="l">
              <a:lnSpc>
                <a:spcPts val="2240"/>
              </a:lnSpc>
              <a:buNone/>
              <a:defRPr/>
            </a:pPr>
            <a:r>
              <a:rPr lang="en-US" sz="1600" b="1">
                <a:solidFill>
                  <a:srgbClr val="17202B"/>
                </a:solidFill>
                <a:latin typeface="Arial"/>
                <a:ea typeface="Arial"/>
                <a:cs typeface="Arial"/>
              </a:rPr>
              <a:t>com-Amazon</a:t>
            </a:r>
            <a:endParaRPr lang="en-US" sz="1600"/>
          </a:p>
        </p:txBody>
      </p:sp>
      <p:sp>
        <p:nvSpPr>
          <p:cNvPr id="1187043949" name="Text 8"/>
          <p:cNvSpPr/>
          <p:nvPr/>
        </p:nvSpPr>
        <p:spPr bwMode="auto">
          <a:xfrm>
            <a:off x="812800" y="3065760"/>
            <a:ext cx="222377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A7179"/>
                </a:solidFill>
                <a:latin typeface="Arial"/>
                <a:ea typeface="Arial"/>
                <a:cs typeface="Arial"/>
              </a:rPr>
              <a:t>13,988 clusters · k = 5</a:t>
            </a:r>
            <a:endParaRPr lang="en-US" sz="1200"/>
          </a:p>
        </p:txBody>
      </p:sp>
      <p:sp>
        <p:nvSpPr>
          <p:cNvPr id="134395297" name="Shape 9"/>
          <p:cNvSpPr/>
          <p:nvPr/>
        </p:nvSpPr>
        <p:spPr bwMode="auto">
          <a:xfrm>
            <a:off x="3225800" y="2760960"/>
            <a:ext cx="8153399" cy="330200"/>
          </a:xfrm>
          <a:prstGeom prst="roundRect">
            <a:avLst>
              <a:gd name="adj" fmla="val 11538"/>
            </a:avLst>
          </a:prstGeom>
          <a:solidFill>
            <a:srgbClr val="E9A06B"/>
          </a:solidFill>
          <a:ln/>
        </p:spPr>
      </p:sp>
      <p:sp>
        <p:nvSpPr>
          <p:cNvPr id="298535820" name="Text 10"/>
          <p:cNvSpPr/>
          <p:nvPr/>
        </p:nvSpPr>
        <p:spPr bwMode="auto">
          <a:xfrm>
            <a:off x="2985008" y="2811760"/>
            <a:ext cx="8267192" cy="256530"/>
          </a:xfrm>
          <a:prstGeom prst="rect">
            <a:avLst/>
          </a:prstGeom>
          <a:noFill/>
          <a:ln/>
        </p:spPr>
        <p:txBody>
          <a:bodyPr wrap="square" lIns="0" tIns="0" rIns="0" bIns="0" rtlCol="0" anchor="t">
            <a:normAutofit/>
          </a:bodyPr>
          <a:lstStyle/>
          <a:p>
            <a:pPr marL="0" indent="0" algn="r">
              <a:lnSpc>
                <a:spcPts val="1820"/>
              </a:lnSpc>
              <a:buNone/>
              <a:defRPr/>
            </a:pPr>
            <a:r>
              <a:rPr lang="en-US" sz="1300" b="1">
                <a:solidFill>
                  <a:srgbClr val="17202B"/>
                </a:solidFill>
                <a:latin typeface="Arial"/>
                <a:ea typeface="Arial"/>
                <a:cs typeface="Arial"/>
              </a:rPr>
              <a:t>master 34.5 min</a:t>
            </a:r>
            <a:endParaRPr lang="en-US" sz="1300"/>
          </a:p>
        </p:txBody>
      </p:sp>
      <p:sp>
        <p:nvSpPr>
          <p:cNvPr id="1136560441" name="Shape 11"/>
          <p:cNvSpPr/>
          <p:nvPr/>
        </p:nvSpPr>
        <p:spPr bwMode="auto">
          <a:xfrm>
            <a:off x="3225800" y="3167360"/>
            <a:ext cx="247650" cy="330200"/>
          </a:xfrm>
          <a:prstGeom prst="roundRect">
            <a:avLst>
              <a:gd name="adj" fmla="val 15385"/>
            </a:avLst>
          </a:prstGeom>
          <a:solidFill>
            <a:srgbClr val="2F6BD6"/>
          </a:solidFill>
          <a:ln/>
        </p:spPr>
      </p:sp>
      <p:sp>
        <p:nvSpPr>
          <p:cNvPr id="1036500160" name="Text 12"/>
          <p:cNvSpPr/>
          <p:nvPr/>
        </p:nvSpPr>
        <p:spPr bwMode="auto">
          <a:xfrm>
            <a:off x="3575050" y="3218160"/>
            <a:ext cx="4578350" cy="256530"/>
          </a:xfrm>
          <a:prstGeom prst="rect">
            <a:avLst/>
          </a:prstGeom>
          <a:noFill/>
          <a:ln/>
        </p:spPr>
        <p:txBody>
          <a:bodyPr wrap="square" lIns="0" tIns="0" rIns="0" bIns="0" rtlCol="0" anchor="t">
            <a:normAutofit/>
          </a:bodyPr>
          <a:lstStyle/>
          <a:p>
            <a:pPr marL="0" indent="0" algn="l">
              <a:lnSpc>
                <a:spcPts val="1820"/>
              </a:lnSpc>
              <a:buNone/>
              <a:defRPr/>
            </a:pPr>
            <a:r>
              <a:rPr lang="en-US" sz="1300" b="1">
                <a:solidFill>
                  <a:srgbClr val="2F6BD6"/>
                </a:solidFill>
                <a:latin typeface="Arial"/>
                <a:ea typeface="Arial"/>
                <a:cs typeface="Arial"/>
              </a:rPr>
              <a:t>branch 62.3 s · 33.2×</a:t>
            </a:r>
            <a:endParaRPr lang="en-US" sz="1300"/>
          </a:p>
        </p:txBody>
      </p:sp>
      <p:sp>
        <p:nvSpPr>
          <p:cNvPr id="229126119" name="Text 13"/>
          <p:cNvSpPr/>
          <p:nvPr/>
        </p:nvSpPr>
        <p:spPr bwMode="auto">
          <a:xfrm>
            <a:off x="812800" y="3821410"/>
            <a:ext cx="2223770" cy="309860"/>
          </a:xfrm>
          <a:prstGeom prst="rect">
            <a:avLst/>
          </a:prstGeom>
          <a:noFill/>
          <a:ln/>
        </p:spPr>
        <p:txBody>
          <a:bodyPr wrap="square" lIns="0" tIns="0" rIns="0" bIns="0" rtlCol="0" anchor="t">
            <a:normAutofit/>
          </a:bodyPr>
          <a:lstStyle/>
          <a:p>
            <a:pPr marL="0" indent="0" algn="l">
              <a:lnSpc>
                <a:spcPts val="2240"/>
              </a:lnSpc>
              <a:buNone/>
              <a:defRPr/>
            </a:pPr>
            <a:r>
              <a:rPr lang="en-US" sz="1600" b="1">
                <a:solidFill>
                  <a:srgbClr val="17202B"/>
                </a:solidFill>
                <a:latin typeface="Arial"/>
                <a:ea typeface="Arial"/>
                <a:cs typeface="Arial"/>
              </a:rPr>
              <a:t>com-Amazon</a:t>
            </a:r>
            <a:endParaRPr lang="en-US" sz="1600"/>
          </a:p>
        </p:txBody>
      </p:sp>
      <p:sp>
        <p:nvSpPr>
          <p:cNvPr id="1520128214" name="Text 14"/>
          <p:cNvSpPr/>
          <p:nvPr/>
        </p:nvSpPr>
        <p:spPr bwMode="auto">
          <a:xfrm>
            <a:off x="812800" y="4113510"/>
            <a:ext cx="222377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A7179"/>
                </a:solidFill>
                <a:latin typeface="Arial"/>
                <a:ea typeface="Arial"/>
                <a:cs typeface="Arial"/>
              </a:rPr>
              <a:t>19,821 clusters · k = 4–6</a:t>
            </a:r>
            <a:endParaRPr lang="en-US" sz="1200"/>
          </a:p>
        </p:txBody>
      </p:sp>
      <p:sp>
        <p:nvSpPr>
          <p:cNvPr id="2079560528" name="Shape 15"/>
          <p:cNvSpPr/>
          <p:nvPr/>
        </p:nvSpPr>
        <p:spPr bwMode="auto">
          <a:xfrm>
            <a:off x="3225800" y="3808710"/>
            <a:ext cx="8153399" cy="330200"/>
          </a:xfrm>
          <a:prstGeom prst="roundRect">
            <a:avLst>
              <a:gd name="adj" fmla="val 11538"/>
            </a:avLst>
          </a:prstGeom>
          <a:solidFill>
            <a:srgbClr val="E9A06B"/>
          </a:solidFill>
          <a:ln/>
        </p:spPr>
      </p:sp>
      <p:sp>
        <p:nvSpPr>
          <p:cNvPr id="1245860006" name="Text 16"/>
          <p:cNvSpPr/>
          <p:nvPr/>
        </p:nvSpPr>
        <p:spPr bwMode="auto">
          <a:xfrm>
            <a:off x="2985008" y="3859510"/>
            <a:ext cx="8267192" cy="256530"/>
          </a:xfrm>
          <a:prstGeom prst="rect">
            <a:avLst/>
          </a:prstGeom>
          <a:noFill/>
          <a:ln/>
        </p:spPr>
        <p:txBody>
          <a:bodyPr wrap="square" lIns="0" tIns="0" rIns="0" bIns="0" rtlCol="0" anchor="t">
            <a:normAutofit/>
          </a:bodyPr>
          <a:lstStyle/>
          <a:p>
            <a:pPr marL="0" indent="0" algn="r">
              <a:lnSpc>
                <a:spcPts val="1820"/>
              </a:lnSpc>
              <a:buNone/>
              <a:defRPr/>
            </a:pPr>
            <a:r>
              <a:rPr lang="en-US" sz="1300" b="1">
                <a:solidFill>
                  <a:srgbClr val="17202B"/>
                </a:solidFill>
                <a:latin typeface="Arial"/>
                <a:ea typeface="Arial"/>
                <a:cs typeface="Arial"/>
              </a:rPr>
              <a:t>master 64.1 min</a:t>
            </a:r>
            <a:endParaRPr lang="en-US" sz="1300"/>
          </a:p>
        </p:txBody>
      </p:sp>
      <p:sp>
        <p:nvSpPr>
          <p:cNvPr id="890235719" name="Shape 17"/>
          <p:cNvSpPr/>
          <p:nvPr/>
        </p:nvSpPr>
        <p:spPr bwMode="auto">
          <a:xfrm>
            <a:off x="3225800" y="4215110"/>
            <a:ext cx="285750" cy="330200"/>
          </a:xfrm>
          <a:prstGeom prst="roundRect">
            <a:avLst>
              <a:gd name="adj" fmla="val 13333"/>
            </a:avLst>
          </a:prstGeom>
          <a:solidFill>
            <a:srgbClr val="2F6BD6"/>
          </a:solidFill>
          <a:ln/>
        </p:spPr>
      </p:sp>
      <p:sp>
        <p:nvSpPr>
          <p:cNvPr id="1186589295" name="Text 18"/>
          <p:cNvSpPr/>
          <p:nvPr/>
        </p:nvSpPr>
        <p:spPr bwMode="auto">
          <a:xfrm>
            <a:off x="3613150" y="4265910"/>
            <a:ext cx="4578350" cy="256530"/>
          </a:xfrm>
          <a:prstGeom prst="rect">
            <a:avLst/>
          </a:prstGeom>
          <a:noFill/>
          <a:ln/>
        </p:spPr>
        <p:txBody>
          <a:bodyPr wrap="square" lIns="0" tIns="0" rIns="0" bIns="0" rtlCol="0" anchor="t">
            <a:normAutofit/>
          </a:bodyPr>
          <a:lstStyle/>
          <a:p>
            <a:pPr marL="0" indent="0" algn="l">
              <a:lnSpc>
                <a:spcPts val="1820"/>
              </a:lnSpc>
              <a:buNone/>
              <a:defRPr/>
            </a:pPr>
            <a:r>
              <a:rPr lang="en-US" sz="1300" b="1">
                <a:solidFill>
                  <a:srgbClr val="2F6BD6"/>
                </a:solidFill>
                <a:latin typeface="Arial"/>
                <a:ea typeface="Arial"/>
                <a:cs typeface="Arial"/>
              </a:rPr>
              <a:t>branch 2.2 min · 28.8×</a:t>
            </a:r>
            <a:endParaRPr lang="en-US" sz="1300"/>
          </a:p>
        </p:txBody>
      </p:sp>
      <p:sp>
        <p:nvSpPr>
          <p:cNvPr id="1116615187" name="Text 19"/>
          <p:cNvSpPr/>
          <p:nvPr/>
        </p:nvSpPr>
        <p:spPr bwMode="auto">
          <a:xfrm>
            <a:off x="812800" y="4869159"/>
            <a:ext cx="2223770" cy="309860"/>
          </a:xfrm>
          <a:prstGeom prst="rect">
            <a:avLst/>
          </a:prstGeom>
          <a:noFill/>
          <a:ln/>
        </p:spPr>
        <p:txBody>
          <a:bodyPr wrap="square" lIns="0" tIns="0" rIns="0" bIns="0" rtlCol="0" anchor="t">
            <a:normAutofit/>
          </a:bodyPr>
          <a:lstStyle/>
          <a:p>
            <a:pPr marL="0" indent="0" algn="l">
              <a:lnSpc>
                <a:spcPts val="2240"/>
              </a:lnSpc>
              <a:buNone/>
              <a:defRPr/>
            </a:pPr>
            <a:r>
              <a:rPr lang="en-US" sz="1600" b="1">
                <a:solidFill>
                  <a:srgbClr val="17202B"/>
                </a:solidFill>
                <a:latin typeface="Arial"/>
                <a:ea typeface="Arial"/>
                <a:cs typeface="Arial"/>
              </a:rPr>
              <a:t>com-Youtube</a:t>
            </a:r>
            <a:endParaRPr lang="en-US" sz="1600"/>
          </a:p>
        </p:txBody>
      </p:sp>
      <p:sp>
        <p:nvSpPr>
          <p:cNvPr id="1036139408" name="Text 20"/>
          <p:cNvSpPr/>
          <p:nvPr/>
        </p:nvSpPr>
        <p:spPr bwMode="auto">
          <a:xfrm>
            <a:off x="812800" y="5161260"/>
            <a:ext cx="2223770" cy="238720"/>
          </a:xfrm>
          <a:prstGeom prst="rect">
            <a:avLst/>
          </a:prstGeom>
          <a:noFill/>
          <a:ln/>
        </p:spPr>
        <p:txBody>
          <a:bodyPr wrap="square" lIns="0" tIns="0" rIns="0" bIns="0" rtlCol="0" anchor="t">
            <a:normAutofit/>
          </a:bodyPr>
          <a:lstStyle/>
          <a:p>
            <a:pPr marL="0" indent="0" algn="l">
              <a:lnSpc>
                <a:spcPts val="1680"/>
              </a:lnSpc>
              <a:buNone/>
              <a:defRPr/>
            </a:pPr>
            <a:r>
              <a:rPr lang="en-US" sz="1200">
                <a:solidFill>
                  <a:srgbClr val="6A7179"/>
                </a:solidFill>
                <a:latin typeface="Arial"/>
                <a:ea typeface="Arial"/>
                <a:cs typeface="Arial"/>
              </a:rPr>
              <a:t>1,494 clusters · k = 5</a:t>
            </a:r>
            <a:endParaRPr lang="en-US" sz="1200"/>
          </a:p>
        </p:txBody>
      </p:sp>
      <p:sp>
        <p:nvSpPr>
          <p:cNvPr id="42985287" name="Shape 21"/>
          <p:cNvSpPr/>
          <p:nvPr/>
        </p:nvSpPr>
        <p:spPr bwMode="auto">
          <a:xfrm>
            <a:off x="3225800" y="4856460"/>
            <a:ext cx="8153399" cy="330200"/>
          </a:xfrm>
          <a:prstGeom prst="roundRect">
            <a:avLst>
              <a:gd name="adj" fmla="val 11538"/>
            </a:avLst>
          </a:prstGeom>
          <a:solidFill>
            <a:srgbClr val="E9A06B"/>
          </a:solidFill>
          <a:ln/>
        </p:spPr>
      </p:sp>
      <p:sp>
        <p:nvSpPr>
          <p:cNvPr id="1395453210" name="Text 22"/>
          <p:cNvSpPr/>
          <p:nvPr/>
        </p:nvSpPr>
        <p:spPr bwMode="auto">
          <a:xfrm>
            <a:off x="2985008" y="4907260"/>
            <a:ext cx="8267192" cy="256530"/>
          </a:xfrm>
          <a:prstGeom prst="rect">
            <a:avLst/>
          </a:prstGeom>
          <a:noFill/>
          <a:ln/>
        </p:spPr>
        <p:txBody>
          <a:bodyPr wrap="square" lIns="0" tIns="0" rIns="0" bIns="0" rtlCol="0" anchor="t">
            <a:normAutofit/>
          </a:bodyPr>
          <a:lstStyle/>
          <a:p>
            <a:pPr marL="0" indent="0" algn="r">
              <a:lnSpc>
                <a:spcPts val="1820"/>
              </a:lnSpc>
              <a:buNone/>
              <a:defRPr/>
            </a:pPr>
            <a:r>
              <a:rPr lang="en-US" sz="1300" b="1">
                <a:solidFill>
                  <a:srgbClr val="17202B"/>
                </a:solidFill>
                <a:latin typeface="Arial"/>
                <a:ea typeface="Arial"/>
                <a:cs typeface="Arial"/>
              </a:rPr>
              <a:t>master 60.7 s</a:t>
            </a:r>
            <a:endParaRPr lang="en-US" sz="1300"/>
          </a:p>
        </p:txBody>
      </p:sp>
      <p:sp>
        <p:nvSpPr>
          <p:cNvPr id="1062839858" name="Shape 23"/>
          <p:cNvSpPr/>
          <p:nvPr/>
        </p:nvSpPr>
        <p:spPr bwMode="auto">
          <a:xfrm>
            <a:off x="3225800" y="5262860"/>
            <a:ext cx="4826000" cy="330200"/>
          </a:xfrm>
          <a:prstGeom prst="roundRect">
            <a:avLst>
              <a:gd name="adj" fmla="val 11538"/>
            </a:avLst>
          </a:prstGeom>
          <a:solidFill>
            <a:srgbClr val="2F6BD6"/>
          </a:solidFill>
          <a:ln/>
        </p:spPr>
      </p:sp>
      <p:sp>
        <p:nvSpPr>
          <p:cNvPr id="1159753599" name="Text 24"/>
          <p:cNvSpPr/>
          <p:nvPr/>
        </p:nvSpPr>
        <p:spPr bwMode="auto">
          <a:xfrm>
            <a:off x="8153399" y="5313660"/>
            <a:ext cx="3270250" cy="256530"/>
          </a:xfrm>
          <a:prstGeom prst="rect">
            <a:avLst/>
          </a:prstGeom>
          <a:noFill/>
          <a:ln/>
        </p:spPr>
        <p:txBody>
          <a:bodyPr wrap="square" lIns="0" tIns="0" rIns="0" bIns="0" rtlCol="0" anchor="t">
            <a:normAutofit/>
          </a:bodyPr>
          <a:lstStyle/>
          <a:p>
            <a:pPr marL="0" indent="0" algn="l">
              <a:lnSpc>
                <a:spcPts val="1820"/>
              </a:lnSpc>
              <a:buNone/>
              <a:defRPr/>
            </a:pPr>
            <a:r>
              <a:rPr lang="en-US" sz="1300" b="1">
                <a:solidFill>
                  <a:srgbClr val="2F6BD6"/>
                </a:solidFill>
                <a:latin typeface="Arial"/>
                <a:ea typeface="Arial"/>
                <a:cs typeface="Arial"/>
              </a:rPr>
              <a:t>branch 35.9 s · 1.7×</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ptimizing blant-clusters.sh">
  <a:themeElements>
    <a:clrScheme name="Optimizing blant-clusters.sh">
      <a:dk1>
        <a:srgbClr val="17202B"/>
      </a:dk1>
      <a:lt1>
        <a:srgbClr val="F6F5F1"/>
      </a:lt1>
      <a:dk2>
        <a:srgbClr val="4F555D"/>
      </a:dk2>
      <a:lt2>
        <a:srgbClr val="E0E0DD"/>
      </a:lt2>
      <a:accent1>
        <a:srgbClr val="2F6BD6"/>
      </a:accent1>
      <a:accent2>
        <a:srgbClr val="E9A06B"/>
      </a:accent2>
      <a:accent3>
        <a:srgbClr val="8FB3F0"/>
      </a:accent3>
      <a:accent4>
        <a:srgbClr val="8A3F10"/>
      </a:accent4>
      <a:accent5>
        <a:srgbClr val="B85A1C"/>
      </a:accent5>
      <a:accent6>
        <a:srgbClr val="D9712B"/>
      </a:accent6>
      <a:hlink>
        <a:srgbClr val="0563C1"/>
      </a:hlink>
      <a:folHlink>
        <a:srgbClr val="954F72"/>
      </a:folHlink>
    </a:clrScheme>
    <a:fontScheme name="Optimizing blant-clusters.sh">
      <a:majorFont>
        <a:latin typeface="Arial"/>
        <a:ea typeface=""/>
        <a:cs typeface=""/>
      </a:majorFont>
      <a:minorFont>
        <a:latin typeface="Arial"/>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ptimizing blant-clusters.sh">
  <a:themeElements>
    <a:clrScheme name="Optimizing blant-clusters.sh">
      <a:dk1>
        <a:srgbClr val="17202B"/>
      </a:dk1>
      <a:lt1>
        <a:srgbClr val="F6F5F1"/>
      </a:lt1>
      <a:dk2>
        <a:srgbClr val="4F555D"/>
      </a:dk2>
      <a:lt2>
        <a:srgbClr val="E0E0DD"/>
      </a:lt2>
      <a:accent1>
        <a:srgbClr val="2F6BD6"/>
      </a:accent1>
      <a:accent2>
        <a:srgbClr val="E9A06B"/>
      </a:accent2>
      <a:accent3>
        <a:srgbClr val="8FB3F0"/>
      </a:accent3>
      <a:accent4>
        <a:srgbClr val="8A3F10"/>
      </a:accent4>
      <a:accent5>
        <a:srgbClr val="B85A1C"/>
      </a:accent5>
      <a:accent6>
        <a:srgbClr val="D9712B"/>
      </a:accent6>
      <a:hlink>
        <a:srgbClr val="0563C1"/>
      </a:hlink>
      <a:folHlink>
        <a:srgbClr val="954F72"/>
      </a:folHlink>
    </a:clrScheme>
    <a:fontScheme name="Optimizing blant-clusters.sh">
      <a:majorFont>
        <a:latin typeface="Arial"/>
        <a:ea typeface=""/>
        <a:cs typeface=""/>
      </a:majorFont>
      <a:minorFont>
        <a:latin typeface="Arial"/>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Optimizing blant-clusters.sh">
  <a:themeElements>
    <a:clrScheme name="Optimizing blant-clusters.sh">
      <a:dk1>
        <a:srgbClr val="17202B"/>
      </a:dk1>
      <a:lt1>
        <a:srgbClr val="F6F5F1"/>
      </a:lt1>
      <a:dk2>
        <a:srgbClr val="4F555D"/>
      </a:dk2>
      <a:lt2>
        <a:srgbClr val="E0E0DD"/>
      </a:lt2>
      <a:accent1>
        <a:srgbClr val="2F6BD6"/>
      </a:accent1>
      <a:accent2>
        <a:srgbClr val="E9A06B"/>
      </a:accent2>
      <a:accent3>
        <a:srgbClr val="8FB3F0"/>
      </a:accent3>
      <a:accent4>
        <a:srgbClr val="8A3F10"/>
      </a:accent4>
      <a:accent5>
        <a:srgbClr val="B85A1C"/>
      </a:accent5>
      <a:accent6>
        <a:srgbClr val="D9712B"/>
      </a:accent6>
      <a:hlink>
        <a:srgbClr val="0563C1"/>
      </a:hlink>
      <a:folHlink>
        <a:srgbClr val="954F72"/>
      </a:folHlink>
    </a:clrScheme>
    <a:fontScheme name="Optimizing blant-clusters.sh">
      <a:majorFont>
        <a:latin typeface="Arial"/>
        <a:ea typeface=""/>
        <a:cs typeface=""/>
      </a:majorFont>
      <a:minorFont>
        <a:latin typeface="Arial"/>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ONLYOFFICE/10.0.0.169</Application>
  <PresentationFormat>On-screen Show (4:3)</PresentationFormat>
  <Paragraphs>0</Paragraphs>
  <Slides>8</Slides>
  <Notes>8</Notes>
  <HiddenSlides>0</HiddenSlides>
  <MMClips>2</MMClips>
  <ScaleCrop>0</ScaleCrop>
  <HeadingPairs>
    <vt:vector size="4" baseType="variant">
      <vt:variant>
        <vt:lpstr>Theme</vt:lpstr>
      </vt:variant>
      <vt:variant>
        <vt:i4>1</vt:i4>
      </vt:variant>
      <vt:variant>
        <vt:lpstr>Slide Titles</vt:lpstr>
      </vt:variant>
      <vt:variant>
        <vt:i4>8</vt:i4>
      </vt:variant>
    </vt:vector>
  </HeadingPairs>
  <TitlesOfParts>
    <vt:vector size="9" baseType="lpstr">
      <vt:lpstr>Theme 1</vt:lpstr>
      <vt:lpstr>Slide 1</vt:lpstr>
      <vt:lpstr>Slide 2</vt:lpstr>
      <vt:lpstr>Slide 3</vt:lpstr>
      <vt:lpstr>Slide 4</vt:lpstr>
      <vt:lpstr>Slide 5</vt:lpstr>
      <vt:lpstr>Slide 6</vt:lpstr>
      <vt:lpstr>Slide 7</vt:lpstr>
      <vt:lpstr>Slide 8</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Optimizing blant-clusters.sh</dc:title>
  <dc:subject/>
  <dc:creator/>
  <cp:lastModifiedBy/>
  <cp:revision>3</cp:revision>
  <dcterms:created xsi:type="dcterms:W3CDTF">2026-10-29T21:35:58Z</dcterms:created>
  <dcterms:modified xsi:type="dcterms:W3CDTF">2026-10-30T02:42:50Z</dcterms:modified>
</cp:coreProperties>
</file>